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Open Sans Bold" charset="1" panose="020B0806030504020204"/>
      <p:regular r:id="rId20"/>
    </p:embeddedFont>
    <p:embeddedFont>
      <p:font typeface="Open Sans" charset="1" panose="020B0606030504020204"/>
      <p:regular r:id="rId21"/>
    </p:embeddedFont>
    <p:embeddedFont>
      <p:font typeface="Century Gothic Paneuropean Bold" charset="1" panose="020B0702020202020204"/>
      <p:regular r:id="rId22"/>
    </p:embeddedFont>
    <p:embeddedFont>
      <p:font typeface="Century Gothic Paneuropean" charset="1" panose="020B0502020202020204"/>
      <p:regular r:id="rId23"/>
    </p:embeddedFont>
    <p:embeddedFont>
      <p:font typeface="Canva Sans Bold" charset="1" panose="020B0803030501040103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jpeg" Type="http://schemas.openxmlformats.org/officeDocument/2006/relationships/image"/><Relationship Id="rId5" Target="../media/image1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94478" y="3863137"/>
            <a:ext cx="16064822" cy="169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b="true" sz="48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Real-Time </a:t>
            </a:r>
            <a:r>
              <a:rPr lang="en-US" b="true" sz="48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Object Detection in Aerial Surveillance Using YOLOv8, YOLOv10 &amp; YOLOv11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14411" y="402947"/>
            <a:ext cx="3929777" cy="828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b="true" sz="48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1485685"/>
            <a:ext cx="547175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1. What is Object Detection?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14411" y="2056127"/>
            <a:ext cx="12604910" cy="181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Object detection means: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Finding what objects are present in an image 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Finding where they are located using bounding boxes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is why it’s called “detection + localization.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4513" y="4018785"/>
            <a:ext cx="12957837" cy="2277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 Why YOLO Models for Object Detection?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YOLO (“You Only Look Once”) is preferred because: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 is accurate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 works well in real-time applications like surveillance, drones, autonomous cars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 YOLO is the best choice for drone-based vision tasks.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4513" y="6553070"/>
            <a:ext cx="12601099" cy="273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3. Aim of This Project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Your project focuses on comparing: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YOLOv8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YOLOv10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YOLOv11</a:t>
            </a:r>
          </a:p>
          <a:p>
            <a:pPr algn="l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All trained on the same dataset, using same settings, so the comparison is fair.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14343" y="1494790"/>
            <a:ext cx="7977840" cy="364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4. Dataset Used — VisDrone2019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</a:t>
            </a: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dataset contains: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Drone images taken from high altitudes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Many tiny objects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Occlusions (objects blocking each other)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Crowded scenes (many objects close together)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These challenges make it a perfect dataset to test YOLO models.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93710" y="221972"/>
            <a:ext cx="3527941" cy="828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b="true" sz="48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Challenges</a:t>
            </a:r>
            <a:r>
              <a:rPr lang="en-US" b="true" sz="48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3710" y="1173838"/>
            <a:ext cx="15200948" cy="364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Drone images create three big challenges: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1.T</a:t>
            </a: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iny Objects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Objects like people and cars appear extremely small because the drone is far away.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2.Occlusion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Objects overlap and hide each other — like people standing close or vehicles in traffic.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3.High-Density Scenes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 single image may contain dozens of objects, making detection more difficult.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Traditional detectors like Faster-RCNN or older YOLO versions often struggle with these challenges.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3710" y="5516701"/>
            <a:ext cx="11963995" cy="410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Why are you doing this project?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1.To evaluate modern YOLO versions (v8, v10, v11) under the same conditions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So we know which one truly performs better.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2.To find the best YOLO model for drone/UAV detection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Since drones are used in: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Security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Traffic monitoring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Disaster management</a:t>
            </a:r>
          </a:p>
          <a:p>
            <a:pPr algn="l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Smart cities      </a:t>
            </a: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Accurate detection becomes very important.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93710" y="4745811"/>
            <a:ext cx="4121651" cy="828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b="true" sz="48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Motivation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665493" y="6643775"/>
            <a:ext cx="3916497" cy="2203030"/>
          </a:xfrm>
          <a:custGeom>
            <a:avLst/>
            <a:gdLst/>
            <a:ahLst/>
            <a:cxnLst/>
            <a:rect r="r" b="b" t="t" l="l"/>
            <a:pathLst>
              <a:path h="2203030" w="3916497">
                <a:moveTo>
                  <a:pt x="0" y="0"/>
                </a:moveTo>
                <a:lnTo>
                  <a:pt x="3916497" y="0"/>
                </a:lnTo>
                <a:lnTo>
                  <a:pt x="3916497" y="2203030"/>
                </a:lnTo>
                <a:lnTo>
                  <a:pt x="0" y="22030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230213" y="6612109"/>
            <a:ext cx="4029087" cy="2266362"/>
          </a:xfrm>
          <a:custGeom>
            <a:avLst/>
            <a:gdLst/>
            <a:ahLst/>
            <a:cxnLst/>
            <a:rect r="r" b="b" t="t" l="l"/>
            <a:pathLst>
              <a:path h="2266362" w="4029087">
                <a:moveTo>
                  <a:pt x="0" y="0"/>
                </a:moveTo>
                <a:lnTo>
                  <a:pt x="4029087" y="0"/>
                </a:lnTo>
                <a:lnTo>
                  <a:pt x="4029087" y="2266362"/>
                </a:lnTo>
                <a:lnTo>
                  <a:pt x="0" y="22663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106228" y="562422"/>
            <a:ext cx="8534437" cy="837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7"/>
              </a:lnSpc>
            </a:pPr>
            <a:r>
              <a:rPr lang="en-US" b="true" sz="4898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DATASET: VISDRONE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2298530"/>
            <a:ext cx="12130193" cy="654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6"/>
              </a:lnSpc>
            </a:pPr>
            <a:r>
              <a:rPr lang="en-US" sz="28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VisDrone2019 Dataset Overview</a:t>
            </a:r>
          </a:p>
          <a:p>
            <a:pPr algn="l" marL="613216" indent="-306608" lvl="1">
              <a:lnSpc>
                <a:spcPts val="3976"/>
              </a:lnSpc>
              <a:buFont typeface="Arial"/>
              <a:buChar char="•"/>
            </a:pPr>
            <a:r>
              <a:rPr lang="en-US" sz="28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Contains 10,209 static images and 2.6 million annotated bounding boxes.</a:t>
            </a:r>
          </a:p>
          <a:p>
            <a:pPr algn="l" marL="613216" indent="-306608" lvl="1">
              <a:lnSpc>
                <a:spcPts val="3976"/>
              </a:lnSpc>
              <a:buFont typeface="Arial"/>
              <a:buChar char="•"/>
            </a:pPr>
            <a:r>
              <a:rPr lang="en-US" sz="28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Includes 10 object categories: pedestrian, people, bicycle, car, van, truck, tricycle, awning-tricycle, bus, motor.</a:t>
            </a:r>
          </a:p>
          <a:p>
            <a:pPr algn="l" marL="613216" indent="-306608" lvl="1">
              <a:lnSpc>
                <a:spcPts val="3976"/>
              </a:lnSpc>
              <a:buFont typeface="Arial"/>
              <a:buChar char="•"/>
            </a:pPr>
            <a:r>
              <a:rPr lang="en-US" sz="28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Images captured from drones across 14 different cities in varying weather and lighting conditions.</a:t>
            </a:r>
          </a:p>
          <a:p>
            <a:pPr algn="l">
              <a:lnSpc>
                <a:spcPts val="3976"/>
              </a:lnSpc>
            </a:pPr>
            <a:r>
              <a:rPr lang="en-US" sz="28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Real-world challenges:</a:t>
            </a:r>
          </a:p>
          <a:p>
            <a:pPr algn="l" marL="613216" indent="-306608" lvl="1">
              <a:lnSpc>
                <a:spcPts val="3976"/>
              </a:lnSpc>
              <a:buFont typeface="Arial"/>
              <a:buChar char="•"/>
            </a:pPr>
            <a:r>
              <a:rPr lang="en-US" sz="28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Extremely small object sizes</a:t>
            </a:r>
          </a:p>
          <a:p>
            <a:pPr algn="l" marL="613216" indent="-306608" lvl="1">
              <a:lnSpc>
                <a:spcPts val="3976"/>
              </a:lnSpc>
              <a:buFont typeface="Arial"/>
              <a:buChar char="•"/>
            </a:pPr>
            <a:r>
              <a:rPr lang="en-US" sz="28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High-density traffic scenes</a:t>
            </a:r>
          </a:p>
          <a:p>
            <a:pPr algn="l" marL="613216" indent="-306608" lvl="1">
              <a:lnSpc>
                <a:spcPts val="3976"/>
              </a:lnSpc>
              <a:buFont typeface="Arial"/>
              <a:buChar char="•"/>
            </a:pPr>
            <a:r>
              <a:rPr lang="en-US" sz="28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Frequent occlusions</a:t>
            </a:r>
          </a:p>
          <a:p>
            <a:pPr algn="l" marL="613216" indent="-306608" lvl="1">
              <a:lnSpc>
                <a:spcPts val="3976"/>
              </a:lnSpc>
              <a:buFont typeface="Arial"/>
              <a:buChar char="•"/>
            </a:pPr>
            <a:r>
              <a:rPr lang="en-US" sz="28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Complex backgrounds</a:t>
            </a:r>
          </a:p>
          <a:p>
            <a:pPr algn="l">
              <a:lnSpc>
                <a:spcPts val="3976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194604" y="4414119"/>
            <a:ext cx="5524338" cy="3682892"/>
          </a:xfrm>
          <a:custGeom>
            <a:avLst/>
            <a:gdLst/>
            <a:ahLst/>
            <a:cxnLst/>
            <a:rect r="r" b="b" t="t" l="l"/>
            <a:pathLst>
              <a:path h="3682892" w="5524338">
                <a:moveTo>
                  <a:pt x="0" y="0"/>
                </a:moveTo>
                <a:lnTo>
                  <a:pt x="5524339" y="0"/>
                </a:lnTo>
                <a:lnTo>
                  <a:pt x="5524339" y="3682892"/>
                </a:lnTo>
                <a:lnTo>
                  <a:pt x="0" y="36828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086336" y="774392"/>
            <a:ext cx="12115329" cy="837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</a:pPr>
            <a:r>
              <a:rPr lang="en-US" b="true" sz="48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DATAS</a:t>
            </a:r>
            <a:r>
              <a:rPr lang="en-US" b="true" sz="48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ET ANNOTATION &amp; CONVERSION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43174" y="3028023"/>
            <a:ext cx="9525" cy="481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569057" y="2259202"/>
            <a:ext cx="5461940" cy="521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6"/>
              </a:lnSpc>
              <a:spcBef>
                <a:spcPct val="0"/>
              </a:spcBef>
            </a:pPr>
            <a:r>
              <a:rPr lang="en-US" sz="310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VisDrone  Annotation Format: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69057" y="3055307"/>
            <a:ext cx="8436187" cy="860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Each 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object annotation is provided in the format: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x, y, width, height, score, class, truncation, occlusion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69057" y="4366494"/>
            <a:ext cx="5429250" cy="511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YOLO Label Format Required: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69057" y="4997955"/>
            <a:ext cx="7048290" cy="1308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YOLO requires labels in this format: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class x_center y_center width height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(all values normalized between 0 and 1)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48268" y="7144578"/>
            <a:ext cx="9565105" cy="261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6" indent="-269873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Your Convert top-left coordinates (x, y) to center coordinates.</a:t>
            </a:r>
          </a:p>
          <a:p>
            <a:pPr algn="l" marL="539746" indent="-269873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Normalize width and height relative to image size.</a:t>
            </a:r>
          </a:p>
          <a:p>
            <a:pPr algn="l" marL="539746" indent="-269873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Adjust class IDs to start from 0 (YOLO requirement).</a:t>
            </a:r>
          </a:p>
          <a:p>
            <a:pPr algn="l" marL="539746" indent="-269873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Skip invalid or zero-area bounding boxes.</a:t>
            </a:r>
          </a:p>
          <a:p>
            <a:pPr algn="l" marL="539746" indent="-269873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Save labels in YOLO-compatible .txt format for each image.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569057" y="6582217"/>
            <a:ext cx="3699397" cy="511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30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onversion Process: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08629" y="621421"/>
            <a:ext cx="9870743" cy="5040340"/>
          </a:xfrm>
          <a:custGeom>
            <a:avLst/>
            <a:gdLst/>
            <a:ahLst/>
            <a:cxnLst/>
            <a:rect r="r" b="b" t="t" l="l"/>
            <a:pathLst>
              <a:path h="5040340" w="9870743">
                <a:moveTo>
                  <a:pt x="0" y="0"/>
                </a:moveTo>
                <a:lnTo>
                  <a:pt x="9870742" y="0"/>
                </a:lnTo>
                <a:lnTo>
                  <a:pt x="9870742" y="5040340"/>
                </a:lnTo>
                <a:lnTo>
                  <a:pt x="0" y="5040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0865" y="200660"/>
            <a:ext cx="2439591" cy="828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b="true" sz="48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YOLOv8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757011"/>
            <a:ext cx="15453063" cy="319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YOLOv8 takes an input image, preprocesses it, and sends it through three main modules: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Backbone to extract features,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Neck to fuse multi-scale features, and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Head to predict bounding boxes, class scores, and object confidence.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 uses an anchor-free detection approach and decoupled heads for better accuracy.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After predictions, confidence filtering and Non-Maximum Suppression (NMS) remove weak and duplicate boxes.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0865" y="9046563"/>
            <a:ext cx="16588435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final output is a set of clean bounding boxes with class labels and confidence scores, making YOLOv8 fast and suitable for real-time detection.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469213" y="189354"/>
            <a:ext cx="10250801" cy="5325304"/>
          </a:xfrm>
          <a:custGeom>
            <a:avLst/>
            <a:gdLst/>
            <a:ahLst/>
            <a:cxnLst/>
            <a:rect r="r" b="b" t="t" l="l"/>
            <a:pathLst>
              <a:path h="5325304" w="10250801">
                <a:moveTo>
                  <a:pt x="0" y="0"/>
                </a:moveTo>
                <a:lnTo>
                  <a:pt x="10250801" y="0"/>
                </a:lnTo>
                <a:lnTo>
                  <a:pt x="10250801" y="5325304"/>
                </a:lnTo>
                <a:lnTo>
                  <a:pt x="0" y="53253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454" r="0" b="-2454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12440" y="200660"/>
            <a:ext cx="2956441" cy="828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b="true" sz="48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YOLOv10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96229" y="5765758"/>
            <a:ext cx="17491771" cy="410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YOLOv10 processes an input image through three main stages: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Backbone (enhanced CSPNet) extracts multi-scale features using SCDown and PSA for better efficiency.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Neck (PAN) fuses these features to strengthen multi-level information.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Head uses a dual strategy during training: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One-to-Many head for dense supervision,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One-to-One head for precise matching and NMS-free prediction.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During inference, only the one-to-one head is used, allowing YOLOv10 to produce final bounding boxes without NMS, reducing latency and speeding up detection.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The output is clean, accurate bounding boxes with class labels and confidence scores in an end-to-end manner.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00704" y="657542"/>
            <a:ext cx="12375408" cy="4485958"/>
          </a:xfrm>
          <a:custGeom>
            <a:avLst/>
            <a:gdLst/>
            <a:ahLst/>
            <a:cxnLst/>
            <a:rect r="r" b="b" t="t" l="l"/>
            <a:pathLst>
              <a:path h="4485958" w="12375408">
                <a:moveTo>
                  <a:pt x="0" y="0"/>
                </a:moveTo>
                <a:lnTo>
                  <a:pt x="12375409" y="0"/>
                </a:lnTo>
                <a:lnTo>
                  <a:pt x="12375409" y="4485958"/>
                </a:lnTo>
                <a:lnTo>
                  <a:pt x="0" y="4485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1890" r="0" b="-2845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23915" y="191134"/>
            <a:ext cx="2976790" cy="8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</a:pPr>
            <a:r>
              <a:rPr lang="en-US" b="true" sz="48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YOLOV11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663969"/>
            <a:ext cx="17259300" cy="410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YOLOv11 takes an input image, preprocesses it, and passes it through three main stages: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Backbone to extract rich multi-scale features using improved blocks like C3k2/C2PSA,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Neck to fuse and refine these features efficiently, and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Head to predict bounding boxes, class probabilities, and confidence scores across multiple scales.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 improves speed and accuracy with lightweight feature blocks and enhanced feature fusion.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After prediction, confidence filtering and Non-Maximum Suppression (NMS) remove low-quality and duplicate boxes.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The final output is a set of accurate, non-overlapping bounding boxes with class labels and confidence scores, making YOLOv11 highly efficient for real-time object detection.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502994" y="1381388"/>
            <a:ext cx="6057901" cy="3407569"/>
          </a:xfrm>
          <a:custGeom>
            <a:avLst/>
            <a:gdLst/>
            <a:ahLst/>
            <a:cxnLst/>
            <a:rect r="r" b="b" t="t" l="l"/>
            <a:pathLst>
              <a:path h="3407569" w="6057901">
                <a:moveTo>
                  <a:pt x="0" y="0"/>
                </a:moveTo>
                <a:lnTo>
                  <a:pt x="6057901" y="0"/>
                </a:lnTo>
                <a:lnTo>
                  <a:pt x="6057901" y="3407569"/>
                </a:lnTo>
                <a:lnTo>
                  <a:pt x="0" y="34075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768461" y="5511428"/>
            <a:ext cx="9469067" cy="4628007"/>
          </a:xfrm>
          <a:custGeom>
            <a:avLst/>
            <a:gdLst/>
            <a:ahLst/>
            <a:cxnLst/>
            <a:rect r="r" b="b" t="t" l="l"/>
            <a:pathLst>
              <a:path h="4628007" w="9469067">
                <a:moveTo>
                  <a:pt x="0" y="0"/>
                </a:moveTo>
                <a:lnTo>
                  <a:pt x="9469067" y="0"/>
                </a:lnTo>
                <a:lnTo>
                  <a:pt x="9469067" y="4628007"/>
                </a:lnTo>
                <a:lnTo>
                  <a:pt x="0" y="46280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862353" y="191134"/>
            <a:ext cx="12115329" cy="8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</a:pPr>
            <a:r>
              <a:rPr lang="en-US" b="true" sz="48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RESULTS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2237" y="751467"/>
            <a:ext cx="1880116" cy="629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YOLOV8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7643" y="1343288"/>
            <a:ext cx="11187469" cy="416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Performance Metrics: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mAP@0.5: 0.7052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mAP@0.5:0.95: 0.45002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Precision: 0.81065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Recall: 0.75021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Observations:</a:t>
            </a:r>
          </a:p>
          <a:p>
            <a:pPr algn="just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Performs well on medium and large objects.</a:t>
            </a:r>
          </a:p>
          <a:p>
            <a:pPr algn="just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Struggles with small and heavily occluded objects due to simpler backbone.</a:t>
            </a:r>
          </a:p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Stable baseline for comparison.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07383" y="1028700"/>
            <a:ext cx="6351917" cy="3572953"/>
          </a:xfrm>
          <a:custGeom>
            <a:avLst/>
            <a:gdLst/>
            <a:ahLst/>
            <a:cxnLst/>
            <a:rect r="r" b="b" t="t" l="l"/>
            <a:pathLst>
              <a:path h="3572953" w="6351917">
                <a:moveTo>
                  <a:pt x="0" y="0"/>
                </a:moveTo>
                <a:lnTo>
                  <a:pt x="6351917" y="0"/>
                </a:lnTo>
                <a:lnTo>
                  <a:pt x="6351917" y="3572953"/>
                </a:lnTo>
                <a:lnTo>
                  <a:pt x="0" y="35729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33707" y="5143500"/>
            <a:ext cx="9714410" cy="4747918"/>
          </a:xfrm>
          <a:custGeom>
            <a:avLst/>
            <a:gdLst/>
            <a:ahLst/>
            <a:cxnLst/>
            <a:rect r="r" b="b" t="t" l="l"/>
            <a:pathLst>
              <a:path h="4747918" w="9714410">
                <a:moveTo>
                  <a:pt x="0" y="0"/>
                </a:moveTo>
                <a:lnTo>
                  <a:pt x="9714410" y="0"/>
                </a:lnTo>
                <a:lnTo>
                  <a:pt x="9714410" y="4747918"/>
                </a:lnTo>
                <a:lnTo>
                  <a:pt x="0" y="47479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3998" y="349189"/>
            <a:ext cx="2903339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YOLOV10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3998" y="1344868"/>
            <a:ext cx="9779418" cy="4168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Performance Metrics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mAP@0.5: 0.78201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mAP@0.5:0.95: 0.48102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Precision: 0.84002</a:t>
            </a:r>
          </a:p>
          <a:p>
            <a:pPr algn="l" marL="518157" indent="-259078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Recall: 0.78201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Observations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</a:t>
            </a: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roved accuracy over YOLOv8 due to better feature extraction.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NMS-free inference improves speed and consistency.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Better localization and stability.</a:t>
            </a:r>
          </a:p>
          <a:p>
            <a:pPr algn="just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70876" y="1028700"/>
            <a:ext cx="6266063" cy="3524660"/>
          </a:xfrm>
          <a:custGeom>
            <a:avLst/>
            <a:gdLst/>
            <a:ahLst/>
            <a:cxnLst/>
            <a:rect r="r" b="b" t="t" l="l"/>
            <a:pathLst>
              <a:path h="3524660" w="6266063">
                <a:moveTo>
                  <a:pt x="0" y="0"/>
                </a:moveTo>
                <a:lnTo>
                  <a:pt x="6266062" y="0"/>
                </a:lnTo>
                <a:lnTo>
                  <a:pt x="6266062" y="3524660"/>
                </a:lnTo>
                <a:lnTo>
                  <a:pt x="0" y="35246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47185" y="5458226"/>
            <a:ext cx="9879845" cy="4828774"/>
          </a:xfrm>
          <a:custGeom>
            <a:avLst/>
            <a:gdLst/>
            <a:ahLst/>
            <a:cxnLst/>
            <a:rect r="r" b="b" t="t" l="l"/>
            <a:pathLst>
              <a:path h="4828774" w="9879845">
                <a:moveTo>
                  <a:pt x="0" y="0"/>
                </a:moveTo>
                <a:lnTo>
                  <a:pt x="9879845" y="0"/>
                </a:lnTo>
                <a:lnTo>
                  <a:pt x="9879845" y="4828774"/>
                </a:lnTo>
                <a:lnTo>
                  <a:pt x="0" y="48287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88066" y="360658"/>
            <a:ext cx="2903339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YOLOV11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8066" y="1553867"/>
            <a:ext cx="10240090" cy="416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Performance Metrics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mAP@0.5: 0.77002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mAP@0.5:0.95: 0.50901 (Highest)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Precision: 0.87012</a:t>
            </a:r>
          </a:p>
          <a:p>
            <a:pPr algn="l" marL="518157" indent="-259078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Recall: 0.81001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Observations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Best small-</a:t>
            </a: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object detection among all models.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Superior multi-scale feature fusion results in higher overall accuracy.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Mos</a:t>
            </a: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 robust in complex drone imagery scenarios.</a:t>
            </a:r>
          </a:p>
          <a:p>
            <a:pPr algn="just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984033" y="1880691"/>
            <a:ext cx="13012782" cy="6525619"/>
          </a:xfrm>
          <a:custGeom>
            <a:avLst/>
            <a:gdLst/>
            <a:ahLst/>
            <a:cxnLst/>
            <a:rect r="r" b="b" t="t" l="l"/>
            <a:pathLst>
              <a:path h="6525619" w="13012782">
                <a:moveTo>
                  <a:pt x="0" y="0"/>
                </a:moveTo>
                <a:lnTo>
                  <a:pt x="13012782" y="0"/>
                </a:lnTo>
                <a:lnTo>
                  <a:pt x="13012782" y="6525618"/>
                </a:lnTo>
                <a:lnTo>
                  <a:pt x="0" y="65256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584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26244" y="680402"/>
            <a:ext cx="16633056" cy="629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Comparison of YOLOV8, YOLOV10 and YOLOV11 Performance mertrics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1570814" y="895350"/>
            <a:ext cx="12387037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68325" y="1225550"/>
            <a:ext cx="3484959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8343" y="2365730"/>
            <a:ext cx="17509337" cy="4273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8633" indent="-294317" lvl="1">
              <a:lnSpc>
                <a:spcPts val="3816"/>
              </a:lnSpc>
              <a:buFont typeface="Arial"/>
              <a:buChar char="•"/>
            </a:pPr>
            <a:r>
              <a:rPr lang="en-US" sz="272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YOLOv11 provides the highest detection accuracy, especially for small and distant objects in aerial imagery.</a:t>
            </a:r>
          </a:p>
          <a:p>
            <a:pPr algn="l" marL="588633" indent="-294317" lvl="1">
              <a:lnSpc>
                <a:spcPts val="3816"/>
              </a:lnSpc>
              <a:buFont typeface="Arial"/>
              <a:buChar char="•"/>
            </a:pPr>
            <a:r>
              <a:rPr lang="en-US" sz="272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YOLOv10 offers the best balance between speed and accuracy, making it suitable for real-time UAV deployment.</a:t>
            </a:r>
          </a:p>
          <a:p>
            <a:pPr algn="l" marL="588633" indent="-294317" lvl="1">
              <a:lnSpc>
                <a:spcPts val="3816"/>
              </a:lnSpc>
              <a:buFont typeface="Arial"/>
              <a:buChar char="•"/>
            </a:pPr>
            <a:r>
              <a:rPr lang="en-US" sz="272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YOLOv8 performs well as a baseline model, but struggles under complex conditions like dense scenes and heavy occlusion.</a:t>
            </a:r>
          </a:p>
          <a:p>
            <a:pPr algn="l" marL="588633" indent="-294317" lvl="1">
              <a:lnSpc>
                <a:spcPts val="3816"/>
              </a:lnSpc>
              <a:buFont typeface="Arial"/>
              <a:buChar char="•"/>
            </a:pPr>
            <a:r>
              <a:rPr lang="en-US" sz="272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VisDrone dataset remains challenging due to tiny objects, high occlusion, and variable lighting.</a:t>
            </a:r>
          </a:p>
          <a:p>
            <a:pPr algn="l" marL="588633" indent="-294317" lvl="1">
              <a:lnSpc>
                <a:spcPts val="3816"/>
              </a:lnSpc>
              <a:buFont typeface="Arial"/>
              <a:buChar char="•"/>
            </a:pPr>
            <a:r>
              <a:rPr lang="en-US" sz="272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Modern YOLO architectures demonstrate significant advancements in feature extraction, localization, and overall detection robustness.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83995" y="3949700"/>
            <a:ext cx="12387037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b="true" sz="69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DAG7HxlIq4U</dc:identifier>
  <dcterms:modified xsi:type="dcterms:W3CDTF">2011-08-01T06:04:30Z</dcterms:modified>
  <cp:revision>1</cp:revision>
  <dc:title>Object Detection in Real-Time Video Surveillance Using YOLOv8, YOLOv10 &amp; YOLOv11</dc:title>
</cp:coreProperties>
</file>